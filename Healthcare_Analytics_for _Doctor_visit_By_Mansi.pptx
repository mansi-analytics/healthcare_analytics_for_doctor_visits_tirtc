
<file path=[Content_Types].xml><?xml version="1.0" encoding="utf-8"?>
<Types xmlns="http://schemas.openxmlformats.org/package/2006/content-types">
  <Default Extension="jfif" ContentType="image/jpeg"/>
  <Default Extension="png" ContentType="image/png"/>
  <Default Extension="tmp"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50" r:id="rId10"/>
    <p:sldId id="349" r:id="rId11"/>
    <p:sldId id="348" r:id="rId12"/>
    <p:sldId id="357" r:id="rId13"/>
    <p:sldId id="356" r:id="rId14"/>
    <p:sldId id="355" r:id="rId15"/>
    <p:sldId id="354" r:id="rId16"/>
    <p:sldId id="353" r:id="rId17"/>
    <p:sldId id="352" r:id="rId18"/>
    <p:sldId id="351" r:id="rId19"/>
    <p:sldId id="358"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0" d="100"/>
          <a:sy n="80" d="100"/>
        </p:scale>
        <p:origin x="294"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10/23/2026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0.tmp"/><Relationship Id="rId4" Type="http://schemas.openxmlformats.org/officeDocument/2006/relationships/image" Target="../media/image9.tmp"/></Relationships>
</file>

<file path=ppt/slides/_rels/slide9.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tmp"/><Relationship Id="rId4" Type="http://schemas.openxmlformats.org/officeDocument/2006/relationships/image" Target="../media/image12.tmp"/></Relationships>
</file>

<file path=ppt/slides/_rels/slide10.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6.tmp"/><Relationship Id="rId4" Type="http://schemas.openxmlformats.org/officeDocument/2006/relationships/image" Target="../media/image15.tmp"/></Relationships>
</file>

<file path=ppt/slides/_rels/slide11.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9.tmp"/><Relationship Id="rId4" Type="http://schemas.openxmlformats.org/officeDocument/2006/relationships/image" Target="../media/image18.tmp"/></Relationships>
</file>

<file path=ppt/slides/_rels/slide12.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2.tmp"/><Relationship Id="rId4" Type="http://schemas.openxmlformats.org/officeDocument/2006/relationships/image" Target="../media/image21.tmp"/></Relationships>
</file>

<file path=ppt/slides/_rels/slide13.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5.tmp"/><Relationship Id="rId4" Type="http://schemas.openxmlformats.org/officeDocument/2006/relationships/image" Target="../media/image24.tmp"/></Relationships>
</file>

<file path=ppt/slides/_rels/slide14.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7.tmp"/></Relationships>
</file>

<file path=ppt/slides/_rels/slide15.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30.tmp"/><Relationship Id="rId4" Type="http://schemas.openxmlformats.org/officeDocument/2006/relationships/image" Target="../media/image29.tmp"/></Relationships>
</file>

<file path=ppt/slides/_rels/slide16.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33.tmp"/><Relationship Id="rId4" Type="http://schemas.openxmlformats.org/officeDocument/2006/relationships/image" Target="../media/image32.tmp"/></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3738113" y="3224749"/>
            <a:ext cx="3400089" cy="861497"/>
          </a:xfrm>
        </p:spPr>
        <p:txBody>
          <a:bodyPr/>
          <a:lstStyle/>
          <a:p>
            <a:pPr algn="r"/>
            <a:r>
              <a:rPr lang="en-US" b="0" dirty="0" smtClean="0">
                <a:solidFill>
                  <a:schemeClr val="tx1"/>
                </a:solidFill>
              </a:rPr>
              <a:t>Name :- </a:t>
            </a:r>
            <a:r>
              <a:rPr lang="en-US" b="0" dirty="0" err="1" smtClean="0">
                <a:solidFill>
                  <a:schemeClr val="tx1"/>
                </a:solidFill>
              </a:rPr>
              <a:t>Mansi</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5329989" y="2017938"/>
            <a:ext cx="6643338" cy="1065626"/>
          </a:xfrm>
        </p:spPr>
        <p:txBody>
          <a:bodyPr>
            <a:normAutofit fontScale="90000"/>
          </a:bodyPr>
          <a:lstStyle/>
          <a:p>
            <a:r>
              <a:rPr lang="en-GB" sz="3200" dirty="0" smtClean="0"/>
              <a:t>Project Title </a:t>
            </a:r>
            <a:r>
              <a:rPr lang="en-GB" sz="3200" dirty="0" smtClean="0"/>
              <a:t>– Healthcare Analytics for Doctor </a:t>
            </a:r>
            <a:r>
              <a:rPr lang="en-GB" sz="3200" dirty="0" err="1" smtClean="0"/>
              <a:t>Visits_TIRTC</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754602" y="1454450"/>
            <a:ext cx="6431280" cy="3607987"/>
          </a:xfrm>
        </p:spPr>
        <p:txBody>
          <a:bodyPr>
            <a:noAutofit/>
          </a:bodyPr>
          <a:lstStyle/>
          <a:p>
            <a:pPr>
              <a:lnSpc>
                <a:spcPct val="150000"/>
              </a:lnSpc>
            </a:pPr>
            <a:r>
              <a:rPr lang="en-US" sz="1400" dirty="0" smtClean="0">
                <a:latin typeface="Times New Roman" panose="02020603050405020304" pitchFamily="18" charset="0"/>
                <a:cs typeface="Times New Roman" panose="02020603050405020304" pitchFamily="18" charset="0"/>
              </a:rPr>
              <a:t>Healthcare </a:t>
            </a:r>
            <a:r>
              <a:rPr lang="en-US" sz="1400" dirty="0">
                <a:latin typeface="Times New Roman" panose="02020603050405020304" pitchFamily="18" charset="0"/>
                <a:cs typeface="Times New Roman" panose="02020603050405020304" pitchFamily="18" charset="0"/>
              </a:rPr>
              <a:t>data contains valuable information about patients’ illness, hospital visits, income, health insurance coverage, and daily activity limitations. However, analyzing these factors manually can make it difficult to identify meaningful patterns and relationships</a:t>
            </a:r>
            <a:r>
              <a:rPr lang="en-US" sz="1400" dirty="0" smtClean="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The objective of this project, Doctor Visits Analytics, is to analyze healthcare data using Python to understand the factors associated with hospital visits. The project explores illness distribution, gender differences, income levels, health insurance coverage, and the relationship between income and hospital visits. It also examines reduced activity due to illness and checks the dataset for missing values and correlations between numerical variables</a:t>
            </a:r>
            <a:r>
              <a:rPr lang="en-US" sz="1400" dirty="0" smtClean="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By using data analysis and visualization techniques, this project aims to transform raw healthcare data into meaningful insights that can support better understanding of healthcare utilization and patient-related patterns.</a:t>
            </a:r>
            <a:endParaRPr lang="en-IN" sz="14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7672492"/>
          </a:xfrm>
        </p:spPr>
        <p:txBody>
          <a:bodyPr>
            <a:normAutofit/>
          </a:bodyPr>
          <a:lstStyle/>
          <a:p>
            <a:r>
              <a:rPr lang="en-GB" dirty="0" smtClean="0"/>
              <a:t>Project Description</a:t>
            </a:r>
            <a:br>
              <a:rPr lang="en-GB" dirty="0" smtClean="0"/>
            </a:br>
            <a:r>
              <a:rPr lang="en-GB" dirty="0" smtClean="0"/>
              <a:t> </a:t>
            </a: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p:cNvSpPr>
            <a:spLocks noChangeArrowheads="1"/>
          </p:cNvSpPr>
          <p:nvPr/>
        </p:nvSpPr>
        <p:spPr bwMode="auto">
          <a:xfrm>
            <a:off x="660399" y="1899677"/>
            <a:ext cx="745716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The Healthcare Analytics for Doctor Visit project focuses on analyzing healthcare data to understand patterns in doctor visits and the factors that influence patients’ healthcare utilization.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The project involves collecting, cleaning, and analyzing healthcare data using data analysis tools. It explores factors such as age, income, health conditions, insurance coverage, and activity limitations to identify trends and relationships associated with doctor visits.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The analysis results are presented through visualizations and meaningful insights, making the data easier to understand and helping support data-driven decisions in healthcare.</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p:cNvSpPr>
            <a:spLocks noGrp="1" noChangeArrowheads="1"/>
          </p:cNvSpPr>
          <p:nvPr>
            <p:ph type="body" sz="quarter" idx="12"/>
          </p:nvPr>
        </p:nvSpPr>
        <p:spPr bwMode="auto">
          <a:xfrm>
            <a:off x="620008" y="1652489"/>
            <a:ext cx="947589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The Healthcare Analytics for Doctor Visit project can be useful for: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Healthcare Professionals:</a:t>
            </a:r>
            <a:r>
              <a:rPr kumimoji="0" lang="en-US" sz="1800" b="0" i="0" u="none" strike="noStrike" cap="none" normalizeH="0" baseline="0" dirty="0" smtClean="0">
                <a:ln>
                  <a:noFill/>
                </a:ln>
                <a:solidFill>
                  <a:schemeClr val="tx1"/>
                </a:solidFill>
                <a:effectLst/>
                <a:latin typeface="Arial" panose="020B0604020202020204" pitchFamily="34" charset="0"/>
              </a:rPr>
              <a:t> To understand patterns in patients’ doctor visits and health conditions.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Hospitals and Clinics:</a:t>
            </a:r>
            <a:r>
              <a:rPr kumimoji="0" lang="en-US" sz="1800" b="0" i="0" u="none" strike="noStrike" cap="none" normalizeH="0" baseline="0" dirty="0" smtClean="0">
                <a:ln>
                  <a:noFill/>
                </a:ln>
                <a:solidFill>
                  <a:schemeClr val="tx1"/>
                </a:solidFill>
                <a:effectLst/>
                <a:latin typeface="Arial" panose="020B0604020202020204" pitchFamily="34" charset="0"/>
              </a:rPr>
              <a:t> To analyze healthcare utilization trends and patient demographics.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Healthcare Researchers:</a:t>
            </a:r>
            <a:r>
              <a:rPr kumimoji="0" lang="en-US" sz="1800" b="0" i="0" u="none" strike="noStrike" cap="none" normalizeH="0" baseline="0" dirty="0" smtClean="0">
                <a:ln>
                  <a:noFill/>
                </a:ln>
                <a:solidFill>
                  <a:schemeClr val="tx1"/>
                </a:solidFill>
                <a:effectLst/>
                <a:latin typeface="Arial" panose="020B0604020202020204" pitchFamily="34" charset="0"/>
              </a:rPr>
              <a:t> To study relationships between health, income, insurance coverage, and doctor visits.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Government and Policymakers:</a:t>
            </a:r>
            <a:r>
              <a:rPr kumimoji="0" lang="en-US" sz="1800" b="0" i="0" u="none" strike="noStrike" cap="none" normalizeH="0" baseline="0" dirty="0" smtClean="0">
                <a:ln>
                  <a:noFill/>
                </a:ln>
                <a:solidFill>
                  <a:schemeClr val="tx1"/>
                </a:solidFill>
                <a:effectLst/>
                <a:latin typeface="Arial" panose="020B0604020202020204" pitchFamily="34" charset="0"/>
              </a:rPr>
              <a:t> To understand healthcare access and support evidence-based planning.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Data Analysts:</a:t>
            </a:r>
            <a:r>
              <a:rPr kumimoji="0" lang="en-US" sz="1800" b="0" i="0" u="none" strike="noStrike" cap="none" normalizeH="0" baseline="0" dirty="0" smtClean="0">
                <a:ln>
                  <a:noFill/>
                </a:ln>
                <a:solidFill>
                  <a:schemeClr val="tx1"/>
                </a:solidFill>
                <a:effectLst/>
                <a:latin typeface="Arial" panose="020B0604020202020204" pitchFamily="34" charset="0"/>
              </a:rPr>
              <a:t> To explore healthcare datasets and generate meaningful insights through data visualization.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smtClean="0"/>
              <a:t>Technology Used</a:t>
            </a:r>
            <a:endParaRPr lang="en-US" dirty="0"/>
          </a:p>
        </p:txBody>
      </p:sp>
      <p:sp>
        <p:nvSpPr>
          <p:cNvPr id="3" name="Rectangle 1"/>
          <p:cNvSpPr>
            <a:spLocks noGrp="1" noChangeArrowheads="1"/>
          </p:cNvSpPr>
          <p:nvPr>
            <p:ph type="body" sz="quarter" idx="12"/>
          </p:nvPr>
        </p:nvSpPr>
        <p:spPr bwMode="auto">
          <a:xfrm>
            <a:off x="745958" y="1234837"/>
            <a:ext cx="996081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1. Python</a:t>
            </a:r>
            <a:r>
              <a:rPr lang="en-US" sz="1800" dirty="0">
                <a:solidFill>
                  <a:schemeClr val="tx1"/>
                </a:solidFill>
                <a:latin typeface="Arial" panose="020B0604020202020204" pitchFamily="34" charset="0"/>
              </a:rPr>
              <a:t> </a:t>
            </a:r>
            <a:r>
              <a:rPr lang="en-US" sz="1800" dirty="0" smtClean="0">
                <a:solidFill>
                  <a:schemeClr val="tx1"/>
                </a:solidFill>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Used for data analysis, data manipulation, and performing calculations on healthcare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2. Pandas</a:t>
            </a:r>
            <a:r>
              <a:rPr lang="en-US" sz="1800" dirty="0">
                <a:solidFill>
                  <a:schemeClr val="tx1"/>
                </a:solidFill>
                <a:latin typeface="Arial" panose="020B0604020202020204" pitchFamily="34" charset="0"/>
              </a:rPr>
              <a:t> </a:t>
            </a:r>
            <a:r>
              <a:rPr lang="en-US" sz="1800" dirty="0" smtClean="0">
                <a:solidFill>
                  <a:schemeClr val="tx1"/>
                </a:solidFill>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Used to load, organize, clean, and analyze the dataset.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3. </a:t>
            </a:r>
            <a:r>
              <a:rPr kumimoji="0" lang="en-US" sz="1800" b="1" i="0" u="none" strike="noStrike" cap="none" normalizeH="0" baseline="0" dirty="0" err="1" smtClean="0">
                <a:ln>
                  <a:noFill/>
                </a:ln>
                <a:solidFill>
                  <a:schemeClr val="tx1"/>
                </a:solidFill>
                <a:effectLst/>
                <a:latin typeface="Arial" panose="020B0604020202020204" pitchFamily="34" charset="0"/>
              </a:rPr>
              <a:t>Matplotlib</a:t>
            </a:r>
            <a:r>
              <a:rPr lang="en-US" sz="1800" dirty="0">
                <a:solidFill>
                  <a:schemeClr val="tx1"/>
                </a:solidFill>
                <a:latin typeface="Arial" panose="020B0604020202020204" pitchFamily="34" charset="0"/>
              </a:rPr>
              <a:t> </a:t>
            </a:r>
            <a:r>
              <a:rPr lang="en-US" sz="1800" dirty="0" smtClean="0">
                <a:solidFill>
                  <a:schemeClr val="tx1"/>
                </a:solidFill>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Used to create graphs and visual representations of the analysis results.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4. </a:t>
            </a:r>
            <a:r>
              <a:rPr kumimoji="0" lang="en-US" sz="1800" b="1" i="0" u="none" strike="noStrike" cap="none" normalizeH="0" baseline="0" dirty="0" err="1" smtClean="0">
                <a:ln>
                  <a:noFill/>
                </a:ln>
                <a:solidFill>
                  <a:schemeClr val="tx1"/>
                </a:solidFill>
                <a:effectLst/>
                <a:latin typeface="Arial" panose="020B0604020202020204" pitchFamily="34" charset="0"/>
              </a:rPr>
              <a:t>Seaborn</a:t>
            </a:r>
            <a:r>
              <a:rPr lang="en-US" sz="1800" dirty="0">
                <a:solidFill>
                  <a:schemeClr val="tx1"/>
                </a:solidFill>
                <a:latin typeface="Arial" panose="020B0604020202020204" pitchFamily="34" charset="0"/>
              </a:rPr>
              <a:t> </a:t>
            </a:r>
            <a:r>
              <a:rPr lang="en-US" sz="1800" dirty="0" smtClean="0">
                <a:solidFill>
                  <a:schemeClr val="tx1"/>
                </a:solidFill>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Used to create statistical visualizations, including box plots, scatter plots, and correlation </a:t>
            </a:r>
            <a:r>
              <a:rPr kumimoji="0" lang="en-US" sz="1800" b="0" i="0" u="none" strike="noStrike" cap="none" normalizeH="0" baseline="0" dirty="0" err="1" smtClean="0">
                <a:ln>
                  <a:noFill/>
                </a:ln>
                <a:solidFill>
                  <a:schemeClr val="tx1"/>
                </a:solidFill>
                <a:effectLst/>
                <a:latin typeface="Arial" panose="020B0604020202020204" pitchFamily="34" charset="0"/>
              </a:rPr>
              <a:t>heatmaps</a:t>
            </a:r>
            <a:r>
              <a:rPr kumimoji="0" 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5. </a:t>
            </a:r>
            <a:r>
              <a:rPr kumimoji="0" lang="en-US" sz="1800" b="1" i="0" u="none" strike="noStrike" cap="none" normalizeH="0" baseline="0" dirty="0" err="1" smtClean="0">
                <a:ln>
                  <a:noFill/>
                </a:ln>
                <a:solidFill>
                  <a:schemeClr val="tx1"/>
                </a:solidFill>
                <a:effectLst/>
                <a:latin typeface="Arial" panose="020B0604020202020204" pitchFamily="34" charset="0"/>
              </a:rPr>
              <a:t>Jupyter</a:t>
            </a:r>
            <a:r>
              <a:rPr kumimoji="0" lang="en-US" sz="1800" b="1" i="0" u="none" strike="noStrike" cap="none" normalizeH="0" baseline="0" dirty="0" smtClean="0">
                <a:ln>
                  <a:noFill/>
                </a:ln>
                <a:solidFill>
                  <a:schemeClr val="tx1"/>
                </a:solidFill>
                <a:effectLst/>
                <a:latin typeface="Arial" panose="020B0604020202020204" pitchFamily="34" charset="0"/>
              </a:rPr>
              <a:t> Notebook</a:t>
            </a:r>
            <a:r>
              <a:rPr lang="en-US" sz="1800" dirty="0">
                <a:solidFill>
                  <a:schemeClr val="tx1"/>
                </a:solidFill>
                <a:latin typeface="Arial" panose="020B0604020202020204" pitchFamily="34" charset="0"/>
              </a:rPr>
              <a:t> </a:t>
            </a:r>
            <a:r>
              <a:rPr lang="en-US" sz="1800" dirty="0" smtClean="0">
                <a:solidFill>
                  <a:schemeClr val="tx1"/>
                </a:solidFill>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Used to write and execute Python code, analyze the dataset, and display results.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6. </a:t>
            </a:r>
            <a:r>
              <a:rPr kumimoji="0" lang="en-US" sz="1800" b="1" i="0" u="none" strike="noStrike" cap="none" normalizeH="0" baseline="0" dirty="0" err="1" smtClean="0">
                <a:ln>
                  <a:noFill/>
                </a:ln>
                <a:solidFill>
                  <a:schemeClr val="tx1"/>
                </a:solidFill>
                <a:effectLst/>
                <a:latin typeface="Arial" panose="020B0604020202020204" pitchFamily="34" charset="0"/>
              </a:rPr>
              <a:t>NumPy</a:t>
            </a:r>
            <a:r>
              <a:rPr kumimoji="0" lang="en-US" sz="1800" b="1" i="0" u="none" strike="noStrike" cap="none" normalizeH="0" baseline="0" dirty="0" smtClean="0">
                <a:ln>
                  <a:noFill/>
                </a:ln>
                <a:solidFill>
                  <a:schemeClr val="tx1"/>
                </a:solidFill>
                <a:effectLst/>
                <a:latin typeface="Arial" panose="020B0604020202020204" pitchFamily="34" charset="0"/>
              </a:rPr>
              <a:t> </a:t>
            </a:r>
            <a:r>
              <a:rPr lang="en-US" sz="1800" dirty="0" smtClean="0">
                <a:solidFill>
                  <a:schemeClr val="tx1"/>
                </a:solidFill>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Used for numerical operations and data processing.</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7192696" cy="830997"/>
          </a:xfrm>
        </p:spPr>
        <p:txBody>
          <a:bodyPr>
            <a:normAutofit fontScale="90000"/>
          </a:bodyPr>
          <a:lstStyle/>
          <a:p>
            <a:r>
              <a:rPr lang="en-IN" sz="3600" u="sng" dirty="0">
                <a:solidFill>
                  <a:schemeClr val="accent3">
                    <a:lumMod val="50000"/>
                  </a:schemeClr>
                </a:solidFill>
                <a:latin typeface="Times New Roman" panose="02020603050405020304" pitchFamily="18" charset="0"/>
                <a:cs typeface="Times New Roman" panose="02020603050405020304" pitchFamily="18" charset="0"/>
              </a:rPr>
              <a:t>READING THE DATASET</a:t>
            </a:r>
            <a:r>
              <a:rPr lang="en-IN" dirty="0">
                <a:solidFill>
                  <a:schemeClr val="accent3">
                    <a:lumMod val="50000"/>
                  </a:schemeClr>
                </a:solidFill>
                <a:latin typeface="Times New Roman" panose="02020603050405020304" pitchFamily="18" charset="0"/>
                <a:cs typeface="Times New Roman" panose="02020603050405020304" pitchFamily="18" charset="0"/>
              </a:rPr>
              <a:t/>
            </a:r>
            <a:br>
              <a:rPr lang="en-IN" dirty="0">
                <a:solidFill>
                  <a:schemeClr val="accent3">
                    <a:lumMod val="50000"/>
                  </a:schemeClr>
                </a:solidFill>
                <a:latin typeface="Times New Roman" panose="02020603050405020304" pitchFamily="18" charset="0"/>
                <a:cs typeface="Times New Roman" panose="02020603050405020304" pitchFamily="18" charset="0"/>
              </a:rPr>
            </a:b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675957" y="6152941"/>
            <a:ext cx="5773304"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endParaRPr lang="en-IN" sz="2000" b="0" u="sng" dirty="0">
              <a:solidFill>
                <a:srgbClr val="0070C0"/>
              </a:solidFill>
              <a:latin typeface="Times New Roman" panose="02020603050405020304" pitchFamily="18" charset="0"/>
              <a:cs typeface="Times New Roman" panose="02020603050405020304" pitchFamily="18" charset="0"/>
            </a:endParaRPr>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681513" y="1130890"/>
            <a:ext cx="4275138" cy="477520"/>
          </a:xfrm>
        </p:spPr>
        <p:txBody>
          <a:bodyPr/>
          <a:lstStyle/>
          <a:p>
            <a:pPr marL="0" indent="0">
              <a:buNone/>
            </a:pPr>
            <a:endParaRPr lang="en-IN" dirty="0"/>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1034637"/>
            <a:ext cx="8985401" cy="4933026"/>
          </a:xfrm>
          <a:prstGeom prst="rect">
            <a:avLst/>
          </a:prstGeom>
        </p:spPr>
      </p:pic>
    </p:spTree>
    <p:extLst>
      <p:ext uri="{BB962C8B-B14F-4D97-AF65-F5344CB8AC3E}">
        <p14:creationId xmlns:p14="http://schemas.microsoft.com/office/powerpoint/2010/main" val="2121240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8456011" cy="830997"/>
          </a:xfrm>
        </p:spPr>
        <p:txBody>
          <a:bodyPr>
            <a:normAutofit/>
          </a:bodyPr>
          <a:lstStyle/>
          <a:p>
            <a:r>
              <a:rPr lang="en-US" sz="2400" u="sng" dirty="0">
                <a:solidFill>
                  <a:schemeClr val="accent4">
                    <a:lumMod val="75000"/>
                  </a:schemeClr>
                </a:solidFill>
                <a:latin typeface="Times New Roman" panose="02020603050405020304" pitchFamily="18" charset="0"/>
                <a:cs typeface="Times New Roman" panose="02020603050405020304" pitchFamily="18" charset="0"/>
              </a:rPr>
              <a:t>Find the total number of people bases on their count of illness</a:t>
            </a:r>
            <a:r>
              <a:rPr lang="en-GB" sz="2400" u="sng" dirty="0" smtClean="0">
                <a:solidFill>
                  <a:schemeClr val="accent4">
                    <a:lumMod val="75000"/>
                  </a:schemeClr>
                </a:solidFill>
                <a:latin typeface="Times New Roman" panose="02020603050405020304" pitchFamily="18" charset="0"/>
                <a:cs typeface="Times New Roman" panose="02020603050405020304" pitchFamily="18" charset="0"/>
              </a:rPr>
              <a:t> </a:t>
            </a:r>
            <a:endParaRPr lang="en-IN" sz="2400" u="sng"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384832" y="6027003"/>
            <a:ext cx="3788094"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p>
          <a:p>
            <a:endParaRPr lang="en-IN" sz="2000" b="0" u="sng" dirty="0">
              <a:solidFill>
                <a:srgbClr val="0070C0"/>
              </a:solidFill>
              <a:latin typeface="Times New Roman" panose="02020603050405020304" pitchFamily="18" charset="0"/>
              <a:cs typeface="Times New Roman" panose="02020603050405020304" pitchFamily="18" charset="0"/>
            </a:endParaRPr>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604674" y="1184950"/>
            <a:ext cx="4275138" cy="3537363"/>
          </a:xfrm>
        </p:spPr>
        <p:txBody>
          <a:bodyPr>
            <a:normAutofit fontScale="32500" lnSpcReduction="20000"/>
          </a:bodyPr>
          <a:lstStyle/>
          <a:p>
            <a:r>
              <a:rPr lang="en-US" sz="6400" b="1" u="sng" dirty="0">
                <a:latin typeface="Arial" panose="020B0604020202020204" pitchFamily="34" charset="0"/>
                <a:cs typeface="Arial" panose="020B0604020202020204" pitchFamily="34" charset="0"/>
              </a:rPr>
              <a:t>Key </a:t>
            </a:r>
            <a:r>
              <a:rPr lang="en-US" sz="6400" b="1" u="sng" dirty="0" smtClean="0">
                <a:latin typeface="Arial" panose="020B0604020202020204" pitchFamily="34" charset="0"/>
                <a:cs typeface="Arial" panose="020B0604020202020204" pitchFamily="34" charset="0"/>
              </a:rPr>
              <a:t>Findings :-</a:t>
            </a:r>
            <a:endParaRPr lang="en-US" sz="6400" b="1" u="sng" dirty="0">
              <a:latin typeface="Arial" panose="020B0604020202020204" pitchFamily="34" charset="0"/>
              <a:cs typeface="Arial" panose="020B0604020202020204" pitchFamily="34" charset="0"/>
            </a:endParaRPr>
          </a:p>
          <a:p>
            <a:r>
              <a:rPr lang="en-US" sz="6400" dirty="0">
                <a:latin typeface="Arial" panose="020B0604020202020204" pitchFamily="34" charset="0"/>
                <a:cs typeface="Arial" panose="020B0604020202020204" pitchFamily="34" charset="0"/>
              </a:rPr>
              <a:t>Illness count shows the number of people in each illness category.</a:t>
            </a:r>
          </a:p>
          <a:p>
            <a:r>
              <a:rPr lang="en-US" sz="6400" dirty="0">
                <a:latin typeface="Arial" panose="020B0604020202020204" pitchFamily="34" charset="0"/>
                <a:cs typeface="Arial" panose="020B0604020202020204" pitchFamily="34" charset="0"/>
              </a:rPr>
              <a:t>The distribution highlights how illness counts vary among people.</a:t>
            </a:r>
          </a:p>
          <a:p>
            <a:r>
              <a:rPr lang="en-US" sz="6400" dirty="0">
                <a:latin typeface="Arial" panose="020B0604020202020204" pitchFamily="34" charset="0"/>
                <a:cs typeface="Arial" panose="020B0604020202020204" pitchFamily="34" charset="0"/>
              </a:rPr>
              <a:t>Overall, the analysis summarizes the frequency of illnesses in the dataset</a:t>
            </a:r>
            <a:r>
              <a:rPr lang="en-US" dirty="0"/>
              <a:t>.</a:t>
            </a:r>
          </a:p>
          <a:p>
            <a:pPr marL="0" indent="0">
              <a:buNone/>
            </a:pPr>
            <a:endParaRPr lang="en-IN" dirty="0"/>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9812" y="1056829"/>
            <a:ext cx="6841826" cy="4791744"/>
          </a:xfrm>
          <a:prstGeom prst="rect">
            <a:avLst/>
          </a:prstGeom>
        </p:spPr>
      </p:pic>
    </p:spTree>
    <p:extLst>
      <p:ext uri="{BB962C8B-B14F-4D97-AF65-F5344CB8AC3E}">
        <p14:creationId xmlns:p14="http://schemas.microsoft.com/office/powerpoint/2010/main" val="165190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8780864" cy="830997"/>
          </a:xfrm>
        </p:spPr>
        <p:txBody>
          <a:bodyPr>
            <a:noAutofit/>
          </a:bodyPr>
          <a:lstStyle/>
          <a:p>
            <a:r>
              <a:rPr lang="en-US" sz="2400" u="sng" dirty="0">
                <a:solidFill>
                  <a:schemeClr val="accent4">
                    <a:lumMod val="75000"/>
                  </a:schemeClr>
                </a:solidFill>
                <a:latin typeface="Times New Roman" panose="02020603050405020304" pitchFamily="18" charset="0"/>
                <a:cs typeface="Times New Roman" panose="02020603050405020304" pitchFamily="18" charset="0"/>
              </a:rPr>
              <a:t>Visualize and </a:t>
            </a:r>
            <a:r>
              <a:rPr lang="en-US" sz="2400" u="sng" dirty="0" err="1" smtClean="0">
                <a:solidFill>
                  <a:schemeClr val="accent4">
                    <a:lumMod val="75000"/>
                  </a:schemeClr>
                </a:solidFill>
                <a:latin typeface="Times New Roman" panose="02020603050405020304" pitchFamily="18" charset="0"/>
                <a:cs typeface="Times New Roman" panose="02020603050405020304" pitchFamily="18" charset="0"/>
              </a:rPr>
              <a:t>analyse</a:t>
            </a:r>
            <a:r>
              <a:rPr lang="en-US" sz="2400" u="sng" dirty="0" smtClean="0">
                <a:solidFill>
                  <a:schemeClr val="accent4">
                    <a:lumMod val="75000"/>
                  </a:schemeClr>
                </a:solidFill>
                <a:latin typeface="Times New Roman" panose="02020603050405020304" pitchFamily="18" charset="0"/>
                <a:cs typeface="Times New Roman" panose="02020603050405020304" pitchFamily="18" charset="0"/>
              </a:rPr>
              <a:t> the </a:t>
            </a:r>
            <a:r>
              <a:rPr lang="en-US" sz="2400" u="sng" dirty="0">
                <a:solidFill>
                  <a:schemeClr val="accent4">
                    <a:lumMod val="75000"/>
                  </a:schemeClr>
                </a:solidFill>
                <a:latin typeface="Times New Roman" panose="02020603050405020304" pitchFamily="18" charset="0"/>
                <a:cs typeface="Times New Roman" panose="02020603050405020304" pitchFamily="18" charset="0"/>
              </a:rPr>
              <a:t>minimum, maximum, and medium income</a:t>
            </a:r>
            <a:endParaRPr lang="en-IN" sz="2400" u="sng"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47022" y="6056421"/>
            <a:ext cx="3800125"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p>
          <a:p>
            <a:endParaRPr lang="en-IN" b="0" u="sng" dirty="0">
              <a:solidFill>
                <a:srgbClr val="0070C0"/>
              </a:solidFill>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882" y="1371985"/>
            <a:ext cx="6006171" cy="2044983"/>
          </a:xfrm>
          <a:prstGeom prst="rect">
            <a:avLst/>
          </a:prstGeom>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882" y="3587367"/>
            <a:ext cx="4938761" cy="1632982"/>
          </a:xfrm>
          <a:prstGeom prst="rect">
            <a:avLst/>
          </a:prstGeom>
        </p:spPr>
      </p:pic>
      <p:pic>
        <p:nvPicPr>
          <p:cNvPr id="11" name="Picture 10"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6953" y="1201586"/>
            <a:ext cx="5172121" cy="5151088"/>
          </a:xfrm>
          <a:prstGeom prst="rect">
            <a:avLst/>
          </a:prstGeom>
        </p:spPr>
      </p:pic>
    </p:spTree>
    <p:extLst>
      <p:ext uri="{BB962C8B-B14F-4D97-AF65-F5344CB8AC3E}">
        <p14:creationId xmlns:p14="http://schemas.microsoft.com/office/powerpoint/2010/main" val="2395411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9635106" cy="830997"/>
          </a:xfrm>
        </p:spPr>
        <p:txBody>
          <a:bodyPr>
            <a:noAutofit/>
          </a:bodyPr>
          <a:lstStyle/>
          <a:p>
            <a:r>
              <a:rPr lang="en-US" sz="2400" u="sng" dirty="0">
                <a:solidFill>
                  <a:schemeClr val="accent4">
                    <a:lumMod val="75000"/>
                  </a:schemeClr>
                </a:solidFill>
                <a:latin typeface="Times New Roman" panose="02020603050405020304" pitchFamily="18" charset="0"/>
                <a:cs typeface="Times New Roman" panose="02020603050405020304" pitchFamily="18" charset="0"/>
              </a:rPr>
              <a:t>Find out </a:t>
            </a:r>
            <a:r>
              <a:rPr lang="en-US" sz="2400" u="sng" dirty="0" smtClean="0">
                <a:solidFill>
                  <a:schemeClr val="accent4">
                    <a:lumMod val="75000"/>
                  </a:schemeClr>
                </a:solidFill>
                <a:latin typeface="Times New Roman" panose="02020603050405020304" pitchFamily="18" charset="0"/>
                <a:cs typeface="Times New Roman" panose="02020603050405020304" pitchFamily="18" charset="0"/>
              </a:rPr>
              <a:t>the </a:t>
            </a:r>
            <a:r>
              <a:rPr lang="en-US" sz="2400" u="sng" dirty="0">
                <a:solidFill>
                  <a:schemeClr val="accent4">
                    <a:lumMod val="75000"/>
                  </a:schemeClr>
                </a:solidFill>
                <a:latin typeface="Times New Roman" panose="02020603050405020304" pitchFamily="18" charset="0"/>
                <a:cs typeface="Times New Roman" panose="02020603050405020304" pitchFamily="18" charset="0"/>
              </a:rPr>
              <a:t>number of days of reduced </a:t>
            </a:r>
            <a:r>
              <a:rPr lang="en-US" sz="2400" u="sng" dirty="0" err="1">
                <a:solidFill>
                  <a:schemeClr val="accent4">
                    <a:lumMod val="75000"/>
                  </a:schemeClr>
                </a:solidFill>
                <a:latin typeface="Times New Roman" panose="02020603050405020304" pitchFamily="18" charset="0"/>
                <a:cs typeface="Times New Roman" panose="02020603050405020304" pitchFamily="18" charset="0"/>
              </a:rPr>
              <a:t>activityof</a:t>
            </a:r>
            <a:r>
              <a:rPr lang="en-US" sz="2400" u="sng" dirty="0">
                <a:solidFill>
                  <a:schemeClr val="accent4">
                    <a:lumMod val="75000"/>
                  </a:schemeClr>
                </a:solidFill>
                <a:latin typeface="Times New Roman" panose="02020603050405020304" pitchFamily="18" charset="0"/>
                <a:cs typeface="Times New Roman" panose="02020603050405020304" pitchFamily="18" charset="0"/>
              </a:rPr>
              <a:t> male and female </a:t>
            </a:r>
            <a:r>
              <a:rPr lang="en-US" sz="2400" u="sng" dirty="0" err="1">
                <a:solidFill>
                  <a:schemeClr val="accent4">
                    <a:lumMod val="75000"/>
                  </a:schemeClr>
                </a:solidFill>
                <a:latin typeface="Times New Roman" panose="02020603050405020304" pitchFamily="18" charset="0"/>
                <a:cs typeface="Times New Roman" panose="02020603050405020304" pitchFamily="18" charset="0"/>
              </a:rPr>
              <a:t>seperatly</a:t>
            </a:r>
            <a:r>
              <a:rPr lang="en-US" sz="2400" u="sng" dirty="0">
                <a:solidFill>
                  <a:schemeClr val="accent4">
                    <a:lumMod val="75000"/>
                  </a:schemeClr>
                </a:solidFill>
                <a:latin typeface="Times New Roman" panose="02020603050405020304" pitchFamily="18" charset="0"/>
                <a:cs typeface="Times New Roman" panose="02020603050405020304" pitchFamily="18" charset="0"/>
              </a:rPr>
              <a:t> due to illness</a:t>
            </a:r>
            <a:r>
              <a:rPr lang="en-GB" sz="2400" u="sng" dirty="0" smtClean="0">
                <a:solidFill>
                  <a:schemeClr val="accent4">
                    <a:lumMod val="75000"/>
                  </a:schemeClr>
                </a:solidFill>
                <a:latin typeface="Times New Roman" panose="02020603050405020304" pitchFamily="18" charset="0"/>
                <a:cs typeface="Times New Roman" panose="02020603050405020304" pitchFamily="18" charset="0"/>
              </a:rPr>
              <a:t> </a:t>
            </a:r>
            <a:endParaRPr lang="en-IN" sz="2400" u="sng"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47022" y="6056421"/>
            <a:ext cx="3800125"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p>
          <a:p>
            <a:endParaRPr lang="en-IN" b="0" u="sng" dirty="0">
              <a:solidFill>
                <a:srgbClr val="0070C0"/>
              </a:solidFill>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993" y="1511602"/>
            <a:ext cx="5551144" cy="1640671"/>
          </a:xfrm>
          <a:prstGeom prst="rect">
            <a:avLst/>
          </a:prstGeom>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993" y="3315913"/>
            <a:ext cx="5868219" cy="1288433"/>
          </a:xfrm>
          <a:prstGeom prst="rect">
            <a:avLst/>
          </a:prstGeom>
        </p:spPr>
      </p:pic>
      <p:pic>
        <p:nvPicPr>
          <p:cNvPr id="11" name="Picture 10"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42081" y="1036045"/>
            <a:ext cx="5269182" cy="5340692"/>
          </a:xfrm>
          <a:prstGeom prst="rect">
            <a:avLst/>
          </a:prstGeom>
        </p:spPr>
      </p:pic>
    </p:spTree>
    <p:extLst>
      <p:ext uri="{BB962C8B-B14F-4D97-AF65-F5344CB8AC3E}">
        <p14:creationId xmlns:p14="http://schemas.microsoft.com/office/powerpoint/2010/main" val="308326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31967" y="382352"/>
            <a:ext cx="9558780" cy="830997"/>
          </a:xfrm>
        </p:spPr>
        <p:txBody>
          <a:bodyPr>
            <a:noAutofit/>
          </a:bodyPr>
          <a:lstStyle/>
          <a:p>
            <a:r>
              <a:rPr lang="en-US" sz="2400" u="sng" dirty="0">
                <a:solidFill>
                  <a:schemeClr val="accent4">
                    <a:lumMod val="75000"/>
                  </a:schemeClr>
                </a:solidFill>
                <a:latin typeface="Times New Roman" panose="02020603050405020304" pitchFamily="18" charset="0"/>
                <a:cs typeface="Times New Roman" panose="02020603050405020304" pitchFamily="18" charset="0"/>
              </a:rPr>
              <a:t>visualize is there any missing values in the dataset based on a heat map</a:t>
            </a:r>
            <a:r>
              <a:rPr lang="en-GB" sz="2400" u="sng" dirty="0" smtClean="0">
                <a:solidFill>
                  <a:schemeClr val="accent4">
                    <a:lumMod val="75000"/>
                  </a:schemeClr>
                </a:solidFill>
                <a:latin typeface="Times New Roman" panose="02020603050405020304" pitchFamily="18" charset="0"/>
                <a:cs typeface="Times New Roman" panose="02020603050405020304" pitchFamily="18" charset="0"/>
              </a:rPr>
              <a:t> </a:t>
            </a:r>
            <a:endParaRPr lang="en-IN" sz="2400" u="sng"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47022" y="6056421"/>
            <a:ext cx="3800125"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p>
          <a:p>
            <a:endParaRPr lang="en-IN" b="0" u="sng" dirty="0">
              <a:solidFill>
                <a:srgbClr val="0070C0"/>
              </a:solidFill>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1014400"/>
            <a:ext cx="4822475" cy="2186000"/>
          </a:xfrm>
          <a:prstGeom prst="rect">
            <a:avLst/>
          </a:prstGeom>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957" y="3234845"/>
            <a:ext cx="4763165" cy="1313091"/>
          </a:xfrm>
          <a:prstGeom prst="rect">
            <a:avLst/>
          </a:prstGeom>
        </p:spPr>
      </p:pic>
      <p:pic>
        <p:nvPicPr>
          <p:cNvPr id="12" name="Picture 11"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53406" y="1104607"/>
            <a:ext cx="5696909" cy="4802898"/>
          </a:xfrm>
          <a:prstGeom prst="rect">
            <a:avLst/>
          </a:prstGeom>
        </p:spPr>
      </p:pic>
    </p:spTree>
    <p:extLst>
      <p:ext uri="{BB962C8B-B14F-4D97-AF65-F5344CB8AC3E}">
        <p14:creationId xmlns:p14="http://schemas.microsoft.com/office/powerpoint/2010/main" val="73259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8768832" cy="830997"/>
          </a:xfrm>
        </p:spPr>
        <p:txBody>
          <a:bodyPr>
            <a:noAutofit/>
          </a:bodyPr>
          <a:lstStyle/>
          <a:p>
            <a:r>
              <a:rPr lang="en-US" sz="2400" u="sng" dirty="0">
                <a:solidFill>
                  <a:schemeClr val="accent4">
                    <a:lumMod val="75000"/>
                  </a:schemeClr>
                </a:solidFill>
                <a:latin typeface="Times New Roman" panose="02020603050405020304" pitchFamily="18" charset="0"/>
                <a:cs typeface="Times New Roman" panose="02020603050405020304" pitchFamily="18" charset="0"/>
              </a:rPr>
              <a:t>Find out the correlation between variables in the given </a:t>
            </a:r>
            <a:r>
              <a:rPr lang="en-US" sz="2400" u="sng" dirty="0" smtClean="0">
                <a:solidFill>
                  <a:schemeClr val="accent4">
                    <a:lumMod val="75000"/>
                  </a:schemeClr>
                </a:solidFill>
                <a:latin typeface="Times New Roman" panose="02020603050405020304" pitchFamily="18" charset="0"/>
                <a:cs typeface="Times New Roman" panose="02020603050405020304" pitchFamily="18" charset="0"/>
              </a:rPr>
              <a:t>dataset</a:t>
            </a:r>
            <a:r>
              <a:rPr lang="en-GB" sz="2400" u="sng" dirty="0" smtClean="0">
                <a:solidFill>
                  <a:schemeClr val="accent4">
                    <a:lumMod val="75000"/>
                  </a:schemeClr>
                </a:solidFill>
                <a:latin typeface="Times New Roman" panose="02020603050405020304" pitchFamily="18" charset="0"/>
                <a:cs typeface="Times New Roman" panose="02020603050405020304" pitchFamily="18" charset="0"/>
              </a:rPr>
              <a:t> </a:t>
            </a:r>
            <a:endParaRPr lang="en-IN" sz="2400" u="sng"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47022" y="6056421"/>
            <a:ext cx="3800125"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p>
          <a:p>
            <a:endParaRPr lang="en-IN" b="0" u="sng" dirty="0">
              <a:solidFill>
                <a:srgbClr val="0070C0"/>
              </a:solidFill>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1246026"/>
            <a:ext cx="4834506" cy="1677647"/>
          </a:xfrm>
          <a:prstGeom prst="rect">
            <a:avLst/>
          </a:prstGeom>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925" y="3188189"/>
            <a:ext cx="5556401" cy="1612413"/>
          </a:xfrm>
          <a:prstGeom prst="rect">
            <a:avLst/>
          </a:prstGeom>
        </p:spPr>
      </p:pic>
      <p:pic>
        <p:nvPicPr>
          <p:cNvPr id="11" name="Picture 10"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4276" y="1018249"/>
            <a:ext cx="5430891" cy="5550191"/>
          </a:xfrm>
          <a:prstGeom prst="rect">
            <a:avLst/>
          </a:prstGeom>
        </p:spPr>
      </p:pic>
    </p:spTree>
    <p:extLst>
      <p:ext uri="{BB962C8B-B14F-4D97-AF65-F5344CB8AC3E}">
        <p14:creationId xmlns:p14="http://schemas.microsoft.com/office/powerpoint/2010/main" val="125667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10212622" cy="830997"/>
          </a:xfrm>
        </p:spPr>
        <p:txBody>
          <a:bodyPr>
            <a:noAutofit/>
          </a:bodyPr>
          <a:lstStyle/>
          <a:p>
            <a:r>
              <a:rPr lang="en-US" sz="2400" u="sng" dirty="0" smtClean="0">
                <a:solidFill>
                  <a:schemeClr val="accent4">
                    <a:lumMod val="75000"/>
                  </a:schemeClr>
                </a:solidFill>
                <a:latin typeface="Times New Roman" panose="02020603050405020304" pitchFamily="18" charset="0"/>
                <a:cs typeface="Times New Roman" panose="02020603050405020304" pitchFamily="18" charset="0"/>
              </a:rPr>
              <a:t>Analyze </a:t>
            </a:r>
            <a:r>
              <a:rPr lang="en-US" sz="2400" u="sng" dirty="0">
                <a:solidFill>
                  <a:schemeClr val="accent4">
                    <a:lumMod val="75000"/>
                  </a:schemeClr>
                </a:solidFill>
                <a:latin typeface="Times New Roman" panose="02020603050405020304" pitchFamily="18" charset="0"/>
                <a:cs typeface="Times New Roman" panose="02020603050405020304" pitchFamily="18" charset="0"/>
              </a:rPr>
              <a:t>how the income of a patient affects the number of visits of the </a:t>
            </a:r>
            <a:r>
              <a:rPr lang="en-US" sz="2400" u="sng" dirty="0" smtClean="0">
                <a:solidFill>
                  <a:schemeClr val="accent4">
                    <a:lumMod val="75000"/>
                  </a:schemeClr>
                </a:solidFill>
                <a:latin typeface="Times New Roman" panose="02020603050405020304" pitchFamily="18" charset="0"/>
                <a:cs typeface="Times New Roman" panose="02020603050405020304" pitchFamily="18" charset="0"/>
              </a:rPr>
              <a:t>hospital</a:t>
            </a:r>
            <a:endParaRPr lang="en-IN" sz="2400" u="sng"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47022" y="6056421"/>
            <a:ext cx="3800125"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p>
          <a:p>
            <a:endParaRPr lang="en-IN" b="0" u="sng" dirty="0">
              <a:solidFill>
                <a:srgbClr val="0070C0"/>
              </a:solidFill>
            </a:endParaRPr>
          </a:p>
        </p:txBody>
      </p:sp>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449" y="1421127"/>
            <a:ext cx="7202806" cy="1904081"/>
          </a:xfrm>
          <a:prstGeom prst="rect">
            <a:avLst/>
          </a:prstGeom>
        </p:spPr>
      </p:pic>
      <p:pic>
        <p:nvPicPr>
          <p:cNvPr id="11" name="Picture 10"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0350" y="1201586"/>
            <a:ext cx="4528229" cy="4854835"/>
          </a:xfrm>
          <a:prstGeom prst="rect">
            <a:avLst/>
          </a:prstGeom>
        </p:spPr>
      </p:pic>
      <p:pic>
        <p:nvPicPr>
          <p:cNvPr id="12" name="Picture 11"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9870" y="3319023"/>
            <a:ext cx="5087060" cy="2083156"/>
          </a:xfrm>
          <a:prstGeom prst="rect">
            <a:avLst/>
          </a:prstGeom>
        </p:spPr>
      </p:pic>
    </p:spTree>
    <p:extLst>
      <p:ext uri="{BB962C8B-B14F-4D97-AF65-F5344CB8AC3E}">
        <p14:creationId xmlns:p14="http://schemas.microsoft.com/office/powerpoint/2010/main" val="1540407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8624454" cy="830997"/>
          </a:xfrm>
        </p:spPr>
        <p:txBody>
          <a:bodyPr>
            <a:noAutofit/>
          </a:bodyPr>
          <a:lstStyle/>
          <a:p>
            <a:r>
              <a:rPr lang="en-US" sz="2400" u="sng" dirty="0">
                <a:solidFill>
                  <a:schemeClr val="accent4">
                    <a:lumMod val="75000"/>
                  </a:schemeClr>
                </a:solidFill>
                <a:latin typeface="Times New Roman" panose="02020603050405020304" pitchFamily="18" charset="0"/>
                <a:cs typeface="Times New Roman" panose="02020603050405020304" pitchFamily="18" charset="0"/>
              </a:rPr>
              <a:t>Count and visualize the numbers of male and female affected by illness</a:t>
            </a:r>
            <a:r>
              <a:rPr lang="en-GB" sz="2400" u="sng" dirty="0" smtClean="0">
                <a:solidFill>
                  <a:schemeClr val="accent4">
                    <a:lumMod val="75000"/>
                  </a:schemeClr>
                </a:solidFill>
                <a:latin typeface="Times New Roman" panose="02020603050405020304" pitchFamily="18" charset="0"/>
                <a:cs typeface="Times New Roman" panose="02020603050405020304" pitchFamily="18" charset="0"/>
              </a:rPr>
              <a:t> </a:t>
            </a:r>
            <a:endParaRPr lang="en-IN" sz="2400" u="sng"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47022" y="6056421"/>
            <a:ext cx="3800125"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p>
          <a:p>
            <a:endParaRPr lang="en-IN" b="0" u="sng" dirty="0">
              <a:solidFill>
                <a:srgbClr val="0070C0"/>
              </a:solidFill>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1585606"/>
            <a:ext cx="5487166" cy="1566668"/>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268" y="3567773"/>
            <a:ext cx="5275505" cy="1351870"/>
          </a:xfrm>
          <a:prstGeom prst="rect">
            <a:avLst/>
          </a:prstGeom>
        </p:spPr>
      </p:pic>
      <p:pic>
        <p:nvPicPr>
          <p:cNvPr id="6" name="Picture 5"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25451" y="1309391"/>
            <a:ext cx="5870040" cy="4886872"/>
          </a:xfrm>
          <a:prstGeom prst="rect">
            <a:avLst/>
          </a:prstGeom>
        </p:spPr>
      </p:pic>
    </p:spTree>
    <p:extLst>
      <p:ext uri="{BB962C8B-B14F-4D97-AF65-F5344CB8AC3E}">
        <p14:creationId xmlns:p14="http://schemas.microsoft.com/office/powerpoint/2010/main" val="303800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447022" y="264009"/>
            <a:ext cx="11295464" cy="830997"/>
          </a:xfrm>
        </p:spPr>
        <p:txBody>
          <a:bodyPr>
            <a:noAutofit/>
          </a:bodyPr>
          <a:lstStyle/>
          <a:p>
            <a:r>
              <a:rPr lang="en-US" sz="2000" u="sng" dirty="0">
                <a:solidFill>
                  <a:schemeClr val="accent4">
                    <a:lumMod val="75000"/>
                  </a:schemeClr>
                </a:solidFill>
                <a:latin typeface="Times New Roman" panose="02020603050405020304" pitchFamily="18" charset="0"/>
                <a:cs typeface="Times New Roman" panose="02020603050405020304" pitchFamily="18" charset="0"/>
              </a:rPr>
              <a:t>Visualize the percentage of people getting government health insurance due to low income, due to old age and also the percentage of people having private health</a:t>
            </a:r>
            <a:r>
              <a:rPr lang="en-US" sz="2400" u="sng" dirty="0">
                <a:solidFill>
                  <a:schemeClr val="accent4">
                    <a:lumMod val="75000"/>
                  </a:schemeClr>
                </a:solidFill>
                <a:latin typeface="Times New Roman" panose="02020603050405020304" pitchFamily="18" charset="0"/>
                <a:cs typeface="Times New Roman" panose="02020603050405020304" pitchFamily="18" charset="0"/>
              </a:rPr>
              <a:t> </a:t>
            </a:r>
            <a:r>
              <a:rPr lang="en-US" sz="2000" u="sng" dirty="0">
                <a:solidFill>
                  <a:schemeClr val="accent4">
                    <a:lumMod val="75000"/>
                  </a:schemeClr>
                </a:solidFill>
                <a:latin typeface="Times New Roman" panose="02020603050405020304" pitchFamily="18" charset="0"/>
                <a:cs typeface="Times New Roman" panose="02020603050405020304" pitchFamily="18" charset="0"/>
              </a:rPr>
              <a:t>insurance</a:t>
            </a:r>
            <a:endParaRPr lang="en-IN" sz="2000" u="sng"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47022" y="6442501"/>
            <a:ext cx="3800125"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p>
          <a:p>
            <a:endParaRPr lang="en-IN" b="0" u="sng" dirty="0">
              <a:solidFill>
                <a:srgbClr val="0070C0"/>
              </a:solidFill>
            </a:endParaRPr>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990" y="5251682"/>
            <a:ext cx="8420694" cy="1220237"/>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2990" y="1095006"/>
            <a:ext cx="10122844" cy="4127258"/>
          </a:xfrm>
          <a:prstGeom prst="rect">
            <a:avLst/>
          </a:prstGeom>
        </p:spPr>
      </p:pic>
    </p:spTree>
    <p:extLst>
      <p:ext uri="{BB962C8B-B14F-4D97-AF65-F5344CB8AC3E}">
        <p14:creationId xmlns:p14="http://schemas.microsoft.com/office/powerpoint/2010/main" val="2135775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320982" y="6346448"/>
            <a:ext cx="3800125"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p>
          <a:p>
            <a:endParaRPr lang="en-IN" b="0" u="sng" dirty="0">
              <a:solidFill>
                <a:srgbClr val="0070C0"/>
              </a:solidFill>
            </a:endParaRPr>
          </a:p>
        </p:txBody>
      </p:sp>
      <p:pic>
        <p:nvPicPr>
          <p:cNvPr id="12" name="Picture 1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57" y="236236"/>
            <a:ext cx="4706007" cy="3065930"/>
          </a:xfrm>
          <a:prstGeom prst="rect">
            <a:avLst/>
          </a:prstGeom>
        </p:spPr>
      </p:pic>
      <p:pic>
        <p:nvPicPr>
          <p:cNvPr id="13" name="Picture 1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2625" y="255785"/>
            <a:ext cx="4720099" cy="3046381"/>
          </a:xfrm>
          <a:prstGeom prst="rect">
            <a:avLst/>
          </a:prstGeom>
        </p:spPr>
      </p:pic>
      <p:pic>
        <p:nvPicPr>
          <p:cNvPr id="14" name="Picture 13"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72663" y="3300067"/>
            <a:ext cx="6249272" cy="3362794"/>
          </a:xfrm>
          <a:prstGeom prst="rect">
            <a:avLst/>
          </a:prstGeom>
        </p:spPr>
      </p:pic>
    </p:spTree>
    <p:extLst>
      <p:ext uri="{BB962C8B-B14F-4D97-AF65-F5344CB8AC3E}">
        <p14:creationId xmlns:p14="http://schemas.microsoft.com/office/powerpoint/2010/main" val="85888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20982" y="444374"/>
            <a:ext cx="11295464" cy="830997"/>
          </a:xfrm>
        </p:spPr>
        <p:txBody>
          <a:bodyPr>
            <a:noAutofit/>
          </a:bodyPr>
          <a:lstStyle/>
          <a:p>
            <a:r>
              <a:rPr lang="en-US" sz="2400" u="sng" dirty="0">
                <a:solidFill>
                  <a:schemeClr val="accent4">
                    <a:lumMod val="75000"/>
                  </a:schemeClr>
                </a:solidFill>
                <a:latin typeface="Times New Roman" panose="02020603050405020304" pitchFamily="18" charset="0"/>
                <a:cs typeface="Times New Roman" panose="02020603050405020304" pitchFamily="18" charset="0"/>
              </a:rPr>
              <a:t>Plot a horizontal bar </a:t>
            </a:r>
            <a:r>
              <a:rPr lang="en-US" sz="2400" u="sng" dirty="0" err="1">
                <a:solidFill>
                  <a:schemeClr val="accent4">
                    <a:lumMod val="75000"/>
                  </a:schemeClr>
                </a:solidFill>
                <a:latin typeface="Times New Roman" panose="02020603050405020304" pitchFamily="18" charset="0"/>
                <a:cs typeface="Times New Roman" panose="02020603050405020304" pitchFamily="18" charset="0"/>
              </a:rPr>
              <a:t>cgart</a:t>
            </a:r>
            <a:r>
              <a:rPr lang="en-US" sz="2400" u="sng" dirty="0">
                <a:solidFill>
                  <a:schemeClr val="accent4">
                    <a:lumMod val="75000"/>
                  </a:schemeClr>
                </a:solidFill>
                <a:latin typeface="Times New Roman" panose="02020603050405020304" pitchFamily="18" charset="0"/>
                <a:cs typeface="Times New Roman" panose="02020603050405020304" pitchFamily="18" charset="0"/>
              </a:rPr>
              <a:t> to analyze the reduced days of activity due to illness based on gender</a:t>
            </a:r>
            <a:endParaRPr lang="en-IN" sz="2400" u="sng"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47022" y="6442501"/>
            <a:ext cx="3800125"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latin typeface="Times New Roman" panose="02020603050405020304" pitchFamily="18" charset="0"/>
                <a:cs typeface="Times New Roman" panose="02020603050405020304" pitchFamily="18" charset="0"/>
              </a:rPr>
              <a:t>https://github.com/mansi-analytics</a:t>
            </a:r>
          </a:p>
          <a:p>
            <a:endParaRPr lang="en-IN" b="0" u="sng" dirty="0">
              <a:solidFill>
                <a:srgbClr val="0070C0"/>
              </a:solidFill>
            </a:endParaRPr>
          </a:p>
        </p:txBody>
      </p:sp>
      <p:pic>
        <p:nvPicPr>
          <p:cNvPr id="6" name="Picture 5"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285" y="1530025"/>
            <a:ext cx="5160273" cy="1152686"/>
          </a:xfrm>
          <a:prstGeom prst="rect">
            <a:avLst/>
          </a:prstGeom>
        </p:spPr>
      </p:pic>
      <p:pic>
        <p:nvPicPr>
          <p:cNvPr id="10" name="Picture 9"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022" y="2933604"/>
            <a:ext cx="5607647" cy="1818870"/>
          </a:xfrm>
          <a:prstGeom prst="rect">
            <a:avLst/>
          </a:prstGeom>
        </p:spPr>
      </p:pic>
      <p:pic>
        <p:nvPicPr>
          <p:cNvPr id="11" name="Picture 10"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27709" y="1190344"/>
            <a:ext cx="5719649" cy="5066077"/>
          </a:xfrm>
          <a:prstGeom prst="rect">
            <a:avLst/>
          </a:prstGeom>
        </p:spPr>
      </p:pic>
    </p:spTree>
    <p:extLst>
      <p:ext uri="{BB962C8B-B14F-4D97-AF65-F5344CB8AC3E}">
        <p14:creationId xmlns:p14="http://schemas.microsoft.com/office/powerpoint/2010/main" val="428872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4" name="Picture 3"/>
          <p:cNvPicPr>
            <a:picLocks noChangeAspect="1"/>
          </p:cNvPicPr>
          <p:nvPr/>
        </p:nvPicPr>
        <p:blipFill>
          <a:blip r:embed="rId3"/>
          <a:stretch>
            <a:fillRect/>
          </a:stretch>
        </p:blipFill>
        <p:spPr>
          <a:xfrm>
            <a:off x="11038" y="0"/>
            <a:ext cx="12180962" cy="6858000"/>
          </a:xfrm>
          <a:prstGeom prst="rect">
            <a:avLst/>
          </a:prstGeom>
        </p:spPr>
      </p:pic>
      <p:sp>
        <p:nvSpPr>
          <p:cNvPr id="5" name="Rectangle 4"/>
          <p:cNvSpPr/>
          <p:nvPr/>
        </p:nvSpPr>
        <p:spPr>
          <a:xfrm>
            <a:off x="2105526" y="4134780"/>
            <a:ext cx="8049127" cy="9184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u="sng" dirty="0">
                <a:solidFill>
                  <a:srgbClr val="002060"/>
                </a:solidFill>
                <a:latin typeface="Times New Roman" panose="02020603050405020304" pitchFamily="18" charset="0"/>
                <a:cs typeface="Times New Roman" panose="02020603050405020304" pitchFamily="18" charset="0"/>
              </a:rPr>
              <a:t>Healthcare Analytics for Doctor </a:t>
            </a:r>
            <a:r>
              <a:rPr lang="en-GB" sz="3200" u="sng" dirty="0" err="1">
                <a:solidFill>
                  <a:srgbClr val="002060"/>
                </a:solidFill>
                <a:latin typeface="Times New Roman" panose="02020603050405020304" pitchFamily="18" charset="0"/>
                <a:cs typeface="Times New Roman" panose="02020603050405020304" pitchFamily="18" charset="0"/>
              </a:rPr>
              <a:t>Visits_TIRTC</a:t>
            </a:r>
            <a:endParaRPr lang="en-IN" sz="3200" u="sng"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purl.org/dc/terms/"/>
    <ds:schemaRef ds:uri="http://www.w3.org/XML/1998/namespace"/>
    <ds:schemaRef ds:uri="http://purl.org/dc/dcmitype/"/>
    <ds:schemaRef ds:uri="http://schemas.microsoft.com/office/2006/documentManagement/types"/>
    <ds:schemaRef ds:uri="http://purl.org/dc/elements/1.1/"/>
    <ds:schemaRef ds:uri="16c05727-aa75-4e4a-9b5f-8a80a1165891"/>
    <ds:schemaRef ds:uri="71af3243-3dd4-4a8d-8c0d-dd76da1f02a5"/>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Facet</Template>
  <TotalTime>689</TotalTime>
  <Words>674</Words>
  <Application>Microsoft Office PowerPoint</Application>
  <PresentationFormat>Widescreen</PresentationFormat>
  <Paragraphs>60</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Times New Roman</vt:lpstr>
      <vt:lpstr>Trebuchet MS</vt:lpstr>
      <vt:lpstr>Wingdings</vt:lpstr>
      <vt:lpstr>Wingdings 3</vt:lpstr>
      <vt:lpstr>Facet</vt:lpstr>
      <vt:lpstr>Project Title – Healthcare Analytics for Doctor Visits_TIRTC</vt:lpstr>
      <vt:lpstr>PROBLEM  STATEMENT</vt:lpstr>
      <vt:lpstr>Project Description   </vt:lpstr>
      <vt:lpstr>WHO ARE THE END USERS?</vt:lpstr>
      <vt:lpstr>Technology Used</vt:lpstr>
      <vt:lpstr>READING THE DATASET </vt:lpstr>
      <vt:lpstr>Find the total number of people bases on their count of illness </vt:lpstr>
      <vt:lpstr>Visualize and analyse the minimum, maximum, and medium income</vt:lpstr>
      <vt:lpstr>Find out the number of days of reduced activityof male and female seperatly due to illness </vt:lpstr>
      <vt:lpstr>visualize is there any missing values in the dataset based on a heat map </vt:lpstr>
      <vt:lpstr>Find out the correlation between variables in the given dataset </vt:lpstr>
      <vt:lpstr>Analyze how the income of a patient affects the number of visits of the hospital</vt:lpstr>
      <vt:lpstr>Count and visualize the numbers of male and female affected by illness </vt:lpstr>
      <vt:lpstr>Visualize the percentage of people getting government health insurance due to low income, due to old age and also the percentage of people having private health insurance</vt:lpstr>
      <vt:lpstr>PowerPoint Presentation</vt:lpstr>
      <vt:lpstr>Plot a horizontal bar cgart to analyze the reduced days of activity due to illness based on gender</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Microsoft account</cp:lastModifiedBy>
  <cp:revision>86</cp:revision>
  <dcterms:created xsi:type="dcterms:W3CDTF">2021-07-11T13:13:15Z</dcterms:created>
  <dcterms:modified xsi:type="dcterms:W3CDTF">2026-10-23T12:33:17Z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